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74320" cy="0"/>
          </a:xfrm>
          <a:prstGeom prst="line">
            <a:avLst/>
          </a:prstGeom>
          <a:noFill/>
          <a:ln w="19050">
            <a:solidFill>
              <a:srgbClr val="1C3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57200"/>
            <a:ext cx="0" cy="274320"/>
          </a:xfrm>
          <a:prstGeom prst="line">
            <a:avLst/>
          </a:prstGeom>
          <a:noFill/>
          <a:ln w="19050">
            <a:solidFill>
              <a:srgbClr val="1C3A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14455" y="457200"/>
            <a:ext cx="274320" cy="0"/>
          </a:xfrm>
          <a:prstGeom prst="line">
            <a:avLst/>
          </a:prstGeom>
          <a:noFill/>
          <a:ln w="19050">
            <a:solidFill>
              <a:srgbClr val="1C3A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88775" y="457200"/>
            <a:ext cx="0" cy="274320"/>
          </a:xfrm>
          <a:prstGeom prst="line">
            <a:avLst/>
          </a:prstGeom>
          <a:noFill/>
          <a:ln w="19050">
            <a:solidFill>
              <a:srgbClr val="1C3A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126480"/>
            <a:ext cx="0" cy="274320"/>
          </a:xfrm>
          <a:prstGeom prst="line">
            <a:avLst/>
          </a:prstGeom>
          <a:noFill/>
          <a:ln w="19050">
            <a:solidFill>
              <a:srgbClr val="1C3A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400800"/>
            <a:ext cx="274320" cy="0"/>
          </a:xfrm>
          <a:prstGeom prst="line">
            <a:avLst/>
          </a:prstGeom>
          <a:noFill/>
          <a:ln w="19050">
            <a:solidFill>
              <a:srgbClr val="1C3A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88775" y="6126480"/>
            <a:ext cx="0" cy="274320"/>
          </a:xfrm>
          <a:prstGeom prst="line">
            <a:avLst/>
          </a:prstGeom>
          <a:noFill/>
          <a:ln w="19050">
            <a:solidFill>
              <a:srgbClr val="1C3A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14455" y="6400800"/>
            <a:ext cx="274320" cy="0"/>
          </a:xfrm>
          <a:prstGeom prst="line">
            <a:avLst/>
          </a:prstGeom>
          <a:noFill/>
          <a:ln w="19050">
            <a:solidFill>
              <a:srgbClr val="1C3A5E"/>
            </a:solidFill>
            <a:prstDash val="solid"/>
          </a:ln>
        </p:spPr>
      </p:sp>
      <p:pic>
        <p:nvPicPr>
          <p:cNvPr id="10" name="Image 0" descr="/home/claude/vehicle_ppt/images/img-001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4265" y="566928"/>
            <a:ext cx="863165" cy="8686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0" y="1627632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MCT-453L   ·   MACHINE VISION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97280" y="2057400"/>
            <a:ext cx="99971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and Evaluation of a Deep Learning-Based</a:t>
            </a:r>
            <a:endParaRPr lang="en-US" sz="3300" dirty="0"/>
          </a:p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Detection and Classification System</a:t>
            </a:r>
            <a:endParaRPr lang="en-US" sz="3300" dirty="0"/>
          </a:p>
        </p:txBody>
      </p:sp>
      <p:sp>
        <p:nvSpPr>
          <p:cNvPr id="13" name="Text 10"/>
          <p:cNvSpPr/>
          <p:nvPr/>
        </p:nvSpPr>
        <p:spPr>
          <a:xfrm>
            <a:off x="1371600" y="3310128"/>
            <a:ext cx="94484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F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EfficientNet-B0 for Classification and YOLOv8n for Object Detection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547208" y="3913632"/>
            <a:ext cx="1097280" cy="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97280" y="41605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</a:t>
            </a:r>
            <a:endParaRPr lang="en-US" sz="10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Zulqarnain Naqvi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979615" y="41605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spc="1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50" dirty="0"/>
          </a:p>
          <a:p>
            <a:pPr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Mechatronics &amp; Control Engineering, UET Lahore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097280" y="498348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  —  GROUP 6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097280" y="5321808"/>
            <a:ext cx="4815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Bilal Afzal Awan   </a:t>
            </a:r>
            <a:pPr algn="l" indent="0" marL="0">
              <a:buNone/>
            </a:pPr>
            <a:r>
              <a:rPr lang="en-US" sz="1100" dirty="0">
                <a:solidFill>
                  <a:srgbClr val="7F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2022-MC-41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095848" y="5321808"/>
            <a:ext cx="4815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Haider Ali   </a:t>
            </a:r>
            <a:pPr algn="l" indent="0" marL="0">
              <a:buNone/>
            </a:pPr>
            <a:r>
              <a:rPr lang="en-US" sz="1100" dirty="0">
                <a:solidFill>
                  <a:srgbClr val="7F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2022-MC-45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97280" y="5614416"/>
            <a:ext cx="4815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  </a:t>
            </a:r>
            <a:pPr algn="l" indent="0" marL="0">
              <a:buNone/>
            </a:pPr>
            <a:r>
              <a:rPr lang="en-US" sz="1100" dirty="0">
                <a:solidFill>
                  <a:srgbClr val="7F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2022-MC-48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095848" y="5614416"/>
            <a:ext cx="4815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Abdullah   </a:t>
            </a:r>
            <a:pPr algn="l" indent="0" marL="0">
              <a:buNone/>
            </a:pPr>
            <a:r>
              <a:rPr lang="en-US" sz="1100" dirty="0">
                <a:solidFill>
                  <a:srgbClr val="7F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2022-MC-50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97280" y="5907024"/>
            <a:ext cx="4815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Azmeer Ali   </a:t>
            </a:r>
            <a:pPr algn="l" indent="0" marL="0">
              <a:buNone/>
            </a:pPr>
            <a:r>
              <a:rPr lang="en-US" sz="1100" dirty="0">
                <a:solidFill>
                  <a:srgbClr val="7F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2022-MC-53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095848" y="5907024"/>
            <a:ext cx="4815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Faiq Ahmad Zia   </a:t>
            </a:r>
            <a:pPr algn="l" indent="0" marL="0">
              <a:buNone/>
            </a:pPr>
            <a:r>
              <a:rPr lang="en-US" sz="1100" dirty="0">
                <a:solidFill>
                  <a:srgbClr val="7F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2022-MC-59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97280" y="6199632"/>
            <a:ext cx="4815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Daies Ali Shah   </a:t>
            </a:r>
            <a:pPr algn="l" indent="0" marL="0">
              <a:buNone/>
            </a:pPr>
            <a:r>
              <a:rPr lang="en-US" sz="1100" dirty="0">
                <a:solidFill>
                  <a:srgbClr val="7F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2022-MC-67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Vehicle Detection at 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48695" y="457200"/>
            <a:ext cx="658368" cy="65836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5" name="Image 0" descr="/home/claude/vehicle_ppt/icons/vid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283" y="542788"/>
            <a:ext cx="487192" cy="4871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89888"/>
            <a:ext cx="11185855" cy="0"/>
          </a:xfrm>
          <a:prstGeom prst="line">
            <a:avLst/>
          </a:prstGeom>
          <a:noFill/>
          <a:ln w="12700">
            <a:solidFill>
              <a:srgbClr val="E0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691640"/>
            <a:ext cx="6126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 of traffic cameras is neither scalable nor cost-effective for modern intelligent transportation needs.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designs and benchmarks a six-phase deep learning pipeline that automatically detects and classifies six vehicle categories — bus, car, microbus, motorbike, pickup-van, and truck.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architectures are implemented and compared head-to-head: EfficientNet-B0 (classification via transfer learning) and YOLOv8n (real-time object detection).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9,211 annotated traffic images from Roboflow underpin dataset engineering, training, optimization, deployment, and critical analysis.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903720" y="1691640"/>
            <a:ext cx="23317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995160" y="1801368"/>
            <a:ext cx="21488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9,211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995160" y="2456993"/>
            <a:ext cx="214884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Images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436608" y="1691640"/>
            <a:ext cx="23317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528048" y="1801368"/>
            <a:ext cx="21488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9528048" y="2456993"/>
            <a:ext cx="214884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Classes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903720" y="3127248"/>
            <a:ext cx="23317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995160" y="3236976"/>
            <a:ext cx="21488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81.2%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995160" y="3892601"/>
            <a:ext cx="214884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Val. Accuracy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9436608" y="3127248"/>
            <a:ext cx="23317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528048" y="3236976"/>
            <a:ext cx="21488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73.0%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9528048" y="3892601"/>
            <a:ext cx="214884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mAP@50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903720" y="4608576"/>
            <a:ext cx="486460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achieve near-identical ~37ms GPU inference; larger vehicles (bus, truck) are consistently easier to detect than motorbikes and microbuses.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MCT-453L  ·  MACHINE VISION  ·  VEHICLE DETECTION &amp; CLASSIFICATION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12315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·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Definition &amp; Motivation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48695" y="457200"/>
            <a:ext cx="658368" cy="65836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5" name="Image 0" descr="/home/claude/vehicle_ppt/icons/r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283" y="542788"/>
            <a:ext cx="487192" cy="4871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89888"/>
            <a:ext cx="11185855" cy="0"/>
          </a:xfrm>
          <a:prstGeom prst="line">
            <a:avLst/>
          </a:prstGeom>
          <a:noFill/>
          <a:ln w="12700">
            <a:solidFill>
              <a:srgbClr val="E0E6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691640"/>
            <a:ext cx="53949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Definition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22860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Traffic-scene imagery is formulated both as a classification task and an object-detection task. The pipeline must automatically detect and classify six vehicle types directly from real-world camera footage — replacing slow, costly manual review with automated, repeatable inference.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37033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Constraints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40690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across the six vehicle types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Occlusion and viewpoint variation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compute resources for training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77240" y="5349240"/>
            <a:ext cx="2286000" cy="411480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13" name="Image 1" descr="/home/claude/vehicle_ppt/icons/micro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431536"/>
            <a:ext cx="246888" cy="2468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16152" y="53492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Task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337560" y="5349240"/>
            <a:ext cx="2286000" cy="411480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16" name="Image 2" descr="/home/claude/vehicle_ppt/icons/bulls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5431536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76472" y="53492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Task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263640" y="1691640"/>
            <a:ext cx="5422392" cy="42062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9" name="Text 14"/>
          <p:cNvSpPr/>
          <p:nvPr/>
        </p:nvSpPr>
        <p:spPr>
          <a:xfrm>
            <a:off x="653796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537960" y="233172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Underpins intelligent transportation: toll collection, traffic density estimation, and urban planning.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pre-trained architectures to a domain-specific problem under real-world constraints.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Ultimately motivated by engineering ethics: reducing road-rage related accidents and protecting vulnerable road users through reliable automated monitoring.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537960" y="5212080"/>
            <a:ext cx="1161288" cy="594360"/>
          </a:xfrm>
          <a:prstGeom prst="rect">
            <a:avLst/>
          </a:prstGeom>
          <a:solidFill>
            <a:srgbClr val="13294B"/>
          </a:solidFill>
          <a:ln/>
        </p:spPr>
      </p:sp>
      <p:pic>
        <p:nvPicPr>
          <p:cNvPr id="22" name="Image 3" descr="/home/claude/vehicle_ppt/icons/mon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9732" y="5285232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574536" y="5541264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 Collection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7790688" y="5212080"/>
            <a:ext cx="1161288" cy="594360"/>
          </a:xfrm>
          <a:prstGeom prst="rect">
            <a:avLst/>
          </a:prstGeom>
          <a:solidFill>
            <a:srgbClr val="13294B"/>
          </a:solidFill>
          <a:ln/>
        </p:spPr>
      </p:sp>
      <p:pic>
        <p:nvPicPr>
          <p:cNvPr id="25" name="Image 4" descr="/home/claude/vehicle_ppt/icons/chartlin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2460" y="5285232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827264" y="5541264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Density</a:t>
            </a:r>
            <a:endParaRPr lang="en-US" sz="800" dirty="0"/>
          </a:p>
        </p:txBody>
      </p:sp>
      <p:sp>
        <p:nvSpPr>
          <p:cNvPr id="27" name="Shape 20"/>
          <p:cNvSpPr/>
          <p:nvPr/>
        </p:nvSpPr>
        <p:spPr>
          <a:xfrm>
            <a:off x="9043416" y="5212080"/>
            <a:ext cx="1161288" cy="594360"/>
          </a:xfrm>
          <a:prstGeom prst="rect">
            <a:avLst/>
          </a:prstGeom>
          <a:solidFill>
            <a:srgbClr val="13294B"/>
          </a:solidFill>
          <a:ln/>
        </p:spPr>
      </p:sp>
      <p:pic>
        <p:nvPicPr>
          <p:cNvPr id="28" name="Image 5" descr="/home/claude/vehicle_ppt/icons/cit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5188" y="5285232"/>
            <a:ext cx="237744" cy="23774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079992" y="5541264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Planning</a:t>
            </a:r>
            <a:endParaRPr lang="en-US" sz="800" dirty="0"/>
          </a:p>
        </p:txBody>
      </p:sp>
      <p:sp>
        <p:nvSpPr>
          <p:cNvPr id="30" name="Shape 22"/>
          <p:cNvSpPr/>
          <p:nvPr/>
        </p:nvSpPr>
        <p:spPr>
          <a:xfrm>
            <a:off x="10296144" y="5212080"/>
            <a:ext cx="1161288" cy="594360"/>
          </a:xfrm>
          <a:prstGeom prst="rect">
            <a:avLst/>
          </a:prstGeom>
          <a:solidFill>
            <a:srgbClr val="13294B"/>
          </a:solidFill>
          <a:ln/>
        </p:spPr>
      </p:sp>
      <p:pic>
        <p:nvPicPr>
          <p:cNvPr id="31" name="Image 6" descr="/home/claude/vehicle_ppt/icons/shie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57916" y="5285232"/>
            <a:ext cx="237744" cy="23774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0332720" y="5541264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Safety</a:t>
            </a:r>
            <a:endParaRPr lang="en-US" sz="800" dirty="0"/>
          </a:p>
        </p:txBody>
      </p:sp>
      <p:sp>
        <p:nvSpPr>
          <p:cNvPr id="33" name="Text 2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MCT-453L  ·  MACHINE VISION  ·  VEHICLE DETECTION &amp; CLASSIFICATION</a:t>
            </a:r>
            <a:endParaRPr lang="en-US" sz="850" dirty="0"/>
          </a:p>
        </p:txBody>
      </p:sp>
      <p:sp>
        <p:nvSpPr>
          <p:cNvPr id="34" name="Text 25"/>
          <p:cNvSpPr/>
          <p:nvPr/>
        </p:nvSpPr>
        <p:spPr>
          <a:xfrm>
            <a:off x="112315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·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48695" y="457200"/>
            <a:ext cx="658368" cy="65836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5" name="Image 0" descr="/home/claude/vehicle_ppt/icon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283" y="542788"/>
            <a:ext cx="487192" cy="4871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89888"/>
            <a:ext cx="11185855" cy="0"/>
          </a:xfrm>
          <a:prstGeom prst="line">
            <a:avLst/>
          </a:prstGeom>
          <a:noFill/>
          <a:ln w="12700">
            <a:solidFill>
              <a:srgbClr val="E0E6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83080"/>
            <a:ext cx="35204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26517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EfficientNet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7240" y="304495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 &amp; Le, ICML 2019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" y="3410712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scaling of depth, width, and resolution yields strong accuracy with fewer parameters — well-suited for transfer learning on constrained hardware.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251960" y="1783080"/>
            <a:ext cx="35204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26280" y="205740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2"/>
          <p:cNvSpPr/>
          <p:nvPr/>
        </p:nvSpPr>
        <p:spPr>
          <a:xfrm>
            <a:off x="45262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526280" y="26517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 Family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26280" y="304495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Redmon et al., CVPR 2016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26280" y="3410712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Evolved from two-stage pipelines toward fast single-stage detection; YOLOv8n (Ultralytics) represents the current state of the art for resource-constrained deployment.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001000" y="1783080"/>
            <a:ext cx="35204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75320" y="205740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8"/>
          <p:cNvSpPr/>
          <p:nvPr/>
        </p:nvSpPr>
        <p:spPr>
          <a:xfrm>
            <a:off x="82753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275320" y="26517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 Traffic-Vision Work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275320" y="304495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literature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275320" y="3410712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CNNs perform well on curated traffic datasets but degrade under occlusion, lighting variation, and class imbalance — directly addressed here via augmentation and regularization.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MCT-453L  ·  MACHINE VISION  ·  VEHICLE DETECTION &amp; CLASSIFICATION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12315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48695" y="457200"/>
            <a:ext cx="658368" cy="65836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5" name="Image 0" descr="/home/claude/vehicle_ppt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283" y="542788"/>
            <a:ext cx="487192" cy="4871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89888"/>
            <a:ext cx="11185855" cy="0"/>
          </a:xfrm>
          <a:prstGeom prst="line">
            <a:avLst/>
          </a:prstGeom>
          <a:noFill/>
          <a:ln w="12700">
            <a:solidFill>
              <a:srgbClr val="E0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69164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Roboflow Vehicle Detection Dataset v3 (CC BY 4.0), downloaded in YOLOv8 format.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9,211 annotated images across six vehicle classes.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random seed of 42 for a reproducible 70 / 15 / 15 split.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class imbalance: car has 18.8× more test instances than truck (4,295 vs. 229).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4160520"/>
            <a:ext cx="162763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" y="4270248"/>
            <a:ext cx="144475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6,449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94360" y="4784141"/>
            <a:ext cx="144475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(70%)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267712" y="4160520"/>
            <a:ext cx="162763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359152" y="4270248"/>
            <a:ext cx="144475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1,381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359152" y="4784141"/>
            <a:ext cx="144475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(15%)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032504" y="4160520"/>
            <a:ext cx="162763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123944" y="4270248"/>
            <a:ext cx="144475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1,381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123944" y="4784141"/>
            <a:ext cx="144475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(15%)</a:t>
            </a:r>
            <a:endParaRPr lang="en-US" sz="1050" dirty="0"/>
          </a:p>
        </p:txBody>
      </p:sp>
      <p:pic>
        <p:nvPicPr>
          <p:cNvPr id="17" name="Image 1" descr="/home/claude/vehicle_ppt/images/img-038-0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695" y="2345436"/>
            <a:ext cx="5212080" cy="312724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403543" y="2272284"/>
            <a:ext cx="201168" cy="0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03543" y="2272284"/>
            <a:ext cx="0" cy="201168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1560759" y="2272284"/>
            <a:ext cx="201168" cy="0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1761927" y="2272284"/>
            <a:ext cx="0" cy="201168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403543" y="5344668"/>
            <a:ext cx="0" cy="201168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403543" y="5545836"/>
            <a:ext cx="201168" cy="0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1761927" y="5344668"/>
            <a:ext cx="0" cy="201168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1560759" y="5545836"/>
            <a:ext cx="201168" cy="0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385255" y="563727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Class distribution in training set — car and motorbike dominate; truck and microbus are under-represented.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MCT-453L  ·  MACHINE VISION  ·  VEHICLE DETECTION &amp; CLASSIFICATION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112315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Augmentation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48695" y="457200"/>
            <a:ext cx="658368" cy="65836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5" name="Image 0" descr="/home/claude/vehicle_ppt/icons/rand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283" y="542788"/>
            <a:ext cx="487192" cy="4871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89888"/>
            <a:ext cx="11185855" cy="0"/>
          </a:xfrm>
          <a:prstGeom prst="line">
            <a:avLst/>
          </a:prstGeom>
          <a:noFill/>
          <a:ln w="12700">
            <a:solidFill>
              <a:srgbClr val="E0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69164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Horizontal Flip (p=0.5) — simulates bidirectional traffic.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Rotation (±10°) — accounts for camera tilt.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Jitter (brightness, contrast, saturation) — simulates lighting variation.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Grayscale (p=0.1) — simulates low-quality or IR cameras.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with ImageNet mean / std — required for the pretrained backbone.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02920" y="54406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 crops 40,466 training instances from full scenes using bounding-box coordinates; YOLOv8 trains directly on full scene images at 640×640.</a:t>
            </a:r>
            <a:endParaRPr lang="en-US" sz="1150" dirty="0"/>
          </a:p>
        </p:txBody>
      </p:sp>
      <p:pic>
        <p:nvPicPr>
          <p:cNvPr id="9" name="Image 1" descr="/home/claude/vehicle_ppt/images/img-038-0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455" y="2410679"/>
            <a:ext cx="5989320" cy="299676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626303" y="2337527"/>
            <a:ext cx="201168" cy="0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626303" y="2337527"/>
            <a:ext cx="0" cy="201168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1560759" y="2337527"/>
            <a:ext cx="201168" cy="0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1761927" y="2337527"/>
            <a:ext cx="0" cy="201168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626303" y="5279425"/>
            <a:ext cx="0" cy="201168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626303" y="5480593"/>
            <a:ext cx="201168" cy="0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1761927" y="5279425"/>
            <a:ext cx="0" cy="201168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1560759" y="5480593"/>
            <a:ext cx="201168" cy="0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MCT-453L  ·  MACHINE VISION  ·  VEHICLE DETECTION &amp; CLASSIFICATION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112315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EfficientNet-B0 — Classification Baseline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48695" y="457200"/>
            <a:ext cx="658368" cy="65836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5" name="Image 0" descr="/home/claude/vehicle_ppt/icons/micro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283" y="542788"/>
            <a:ext cx="487192" cy="4871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89888"/>
            <a:ext cx="11185855" cy="0"/>
          </a:xfrm>
          <a:prstGeom prst="line">
            <a:avLst/>
          </a:prstGeom>
          <a:noFill/>
          <a:ln w="12700">
            <a:solidFill>
              <a:srgbClr val="E0E6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201168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3294B"/>
          </a:solidFill>
          <a:ln/>
        </p:spPr>
      </p:sp>
      <p:sp>
        <p:nvSpPr>
          <p:cNvPr id="8" name="Text 5"/>
          <p:cNvSpPr/>
          <p:nvPr/>
        </p:nvSpPr>
        <p:spPr>
          <a:xfrm>
            <a:off x="576072" y="2011680"/>
            <a:ext cx="1728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224×224×3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377440" y="2697480"/>
            <a:ext cx="256032" cy="0"/>
          </a:xfrm>
          <a:prstGeom prst="line">
            <a:avLst/>
          </a:prstGeom>
          <a:noFill/>
          <a:ln w="22225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633472" y="201168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0B1F3A"/>
          </a:solidFill>
          <a:ln/>
        </p:spPr>
      </p:sp>
      <p:sp>
        <p:nvSpPr>
          <p:cNvPr id="11" name="Text 8"/>
          <p:cNvSpPr/>
          <p:nvPr/>
        </p:nvSpPr>
        <p:spPr>
          <a:xfrm>
            <a:off x="2706624" y="2011680"/>
            <a:ext cx="1728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(frozen)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ImageNet-pretrained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07992" y="2697480"/>
            <a:ext cx="256032" cy="0"/>
          </a:xfrm>
          <a:prstGeom prst="line">
            <a:avLst/>
          </a:prstGeom>
          <a:noFill/>
          <a:ln w="22225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764024" y="201168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00B4D8"/>
          </a:solidFill>
          <a:ln/>
        </p:spPr>
      </p:sp>
      <p:sp>
        <p:nvSpPr>
          <p:cNvPr id="14" name="Text 11"/>
          <p:cNvSpPr/>
          <p:nvPr/>
        </p:nvSpPr>
        <p:spPr>
          <a:xfrm>
            <a:off x="4837176" y="2011680"/>
            <a:ext cx="1728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0.3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638544" y="2697480"/>
            <a:ext cx="256032" cy="0"/>
          </a:xfrm>
          <a:prstGeom prst="line">
            <a:avLst/>
          </a:prstGeom>
          <a:noFill/>
          <a:ln w="22225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894576" y="201168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F6B35"/>
          </a:solidFill>
          <a:ln/>
        </p:spPr>
      </p:sp>
      <p:sp>
        <p:nvSpPr>
          <p:cNvPr id="17" name="Text 14"/>
          <p:cNvSpPr/>
          <p:nvPr/>
        </p:nvSpPr>
        <p:spPr>
          <a:xfrm>
            <a:off x="6967728" y="2011680"/>
            <a:ext cx="1728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1,280 → 6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769096" y="2697480"/>
            <a:ext cx="256032" cy="0"/>
          </a:xfrm>
          <a:prstGeom prst="line">
            <a:avLst/>
          </a:prstGeom>
          <a:noFill/>
          <a:ln w="22225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9025128" y="201168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3294B"/>
          </a:solidFill>
          <a:ln/>
        </p:spPr>
      </p:sp>
      <p:sp>
        <p:nvSpPr>
          <p:cNvPr id="20" name="Text 17"/>
          <p:cNvSpPr/>
          <p:nvPr/>
        </p:nvSpPr>
        <p:spPr>
          <a:xfrm>
            <a:off x="9098280" y="2011680"/>
            <a:ext cx="1728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Class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2920" y="370332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backbone layers are frozen — only the classifier head is replaced and fine-tuned.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02920" y="4343400"/>
            <a:ext cx="259689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94360" y="4453128"/>
            <a:ext cx="241401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7,686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594360" y="5193792"/>
            <a:ext cx="241401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Parameters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264408" y="4343400"/>
            <a:ext cx="259689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3355848" y="4453128"/>
            <a:ext cx="241401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224×224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3355848" y="5193792"/>
            <a:ext cx="241401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Resolution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025896" y="4343400"/>
            <a:ext cx="259689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6117336" y="4453128"/>
            <a:ext cx="241401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1,280 → 6</a:t>
            </a:r>
            <a:endParaRPr lang="en-US" sz="2600" dirty="0"/>
          </a:p>
        </p:txBody>
      </p:sp>
      <p:sp>
        <p:nvSpPr>
          <p:cNvPr id="30" name="Text 27"/>
          <p:cNvSpPr/>
          <p:nvPr/>
        </p:nvSpPr>
        <p:spPr>
          <a:xfrm>
            <a:off x="6117336" y="5193792"/>
            <a:ext cx="241401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Head Mapping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8787384" y="4343400"/>
            <a:ext cx="259689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8878824" y="4453128"/>
            <a:ext cx="241401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33" name="Text 30"/>
          <p:cNvSpPr/>
          <p:nvPr/>
        </p:nvSpPr>
        <p:spPr>
          <a:xfrm>
            <a:off x="8878824" y="5193792"/>
            <a:ext cx="241401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Epochs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MCT-453L  ·  MACHINE VISION  ·  VEHICLE DETECTION &amp; CLASSIFICATION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112315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YOLOv8n — Advanced Detection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48695" y="457200"/>
            <a:ext cx="658368" cy="65836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5" name="Image 0" descr="/home/claude/vehicle_ppt/icons/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283" y="542788"/>
            <a:ext cx="487192" cy="4871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89888"/>
            <a:ext cx="11185855" cy="0"/>
          </a:xfrm>
          <a:prstGeom prst="line">
            <a:avLst/>
          </a:prstGeom>
          <a:noFill/>
          <a:ln w="12700">
            <a:solidFill>
              <a:srgbClr val="E0E6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201168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3294B"/>
          </a:solidFill>
          <a:ln/>
        </p:spPr>
      </p:sp>
      <p:sp>
        <p:nvSpPr>
          <p:cNvPr id="8" name="Text 5"/>
          <p:cNvSpPr/>
          <p:nvPr/>
        </p:nvSpPr>
        <p:spPr>
          <a:xfrm>
            <a:off x="576072" y="2011680"/>
            <a:ext cx="1728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640×640×3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377440" y="2697480"/>
            <a:ext cx="256032" cy="0"/>
          </a:xfrm>
          <a:prstGeom prst="line">
            <a:avLst/>
          </a:prstGeom>
          <a:noFill/>
          <a:ln w="22225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633472" y="201168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0B1F3A"/>
          </a:solidFill>
          <a:ln/>
        </p:spPr>
      </p:sp>
      <p:sp>
        <p:nvSpPr>
          <p:cNvPr id="11" name="Text 8"/>
          <p:cNvSpPr/>
          <p:nvPr/>
        </p:nvSpPr>
        <p:spPr>
          <a:xfrm>
            <a:off x="2706624" y="2011680"/>
            <a:ext cx="1728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CSPDarknet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07992" y="2697480"/>
            <a:ext cx="256032" cy="0"/>
          </a:xfrm>
          <a:prstGeom prst="line">
            <a:avLst/>
          </a:prstGeom>
          <a:noFill/>
          <a:ln w="22225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764024" y="201168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00B4D8"/>
          </a:solidFill>
          <a:ln/>
        </p:spPr>
      </p:sp>
      <p:sp>
        <p:nvSpPr>
          <p:cNvPr id="14" name="Text 11"/>
          <p:cNvSpPr/>
          <p:nvPr/>
        </p:nvSpPr>
        <p:spPr>
          <a:xfrm>
            <a:off x="4837176" y="2011680"/>
            <a:ext cx="1728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PANet Neck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 fusion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638544" y="2697480"/>
            <a:ext cx="256032" cy="0"/>
          </a:xfrm>
          <a:prstGeom prst="line">
            <a:avLst/>
          </a:prstGeom>
          <a:noFill/>
          <a:ln w="22225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894576" y="201168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F6B35"/>
          </a:solidFill>
          <a:ln/>
        </p:spPr>
      </p:sp>
      <p:sp>
        <p:nvSpPr>
          <p:cNvPr id="17" name="Text 14"/>
          <p:cNvSpPr/>
          <p:nvPr/>
        </p:nvSpPr>
        <p:spPr>
          <a:xfrm>
            <a:off x="6967728" y="2011680"/>
            <a:ext cx="1728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Head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769096" y="2697480"/>
            <a:ext cx="256032" cy="0"/>
          </a:xfrm>
          <a:prstGeom prst="line">
            <a:avLst/>
          </a:prstGeom>
          <a:noFill/>
          <a:ln w="22225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9025128" y="201168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3294B"/>
          </a:solidFill>
          <a:ln/>
        </p:spPr>
      </p:sp>
      <p:sp>
        <p:nvSpPr>
          <p:cNvPr id="20" name="Text 17"/>
          <p:cNvSpPr/>
          <p:nvPr/>
        </p:nvSpPr>
        <p:spPr>
          <a:xfrm>
            <a:off x="9098280" y="2011680"/>
            <a:ext cx="1728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 + Scores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Class Labels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2920" y="370332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single-stage detector that predicts bounding boxes, scores, and class labels in one forward pass — pretrained on COCO, fine-tuned on the vehicle dataset.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02920" y="4343400"/>
            <a:ext cx="259689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94360" y="4453128"/>
            <a:ext cx="241401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594360" y="5193792"/>
            <a:ext cx="241401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264408" y="4343400"/>
            <a:ext cx="259689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3355848" y="4453128"/>
            <a:ext cx="241401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3.0M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3355848" y="5193792"/>
            <a:ext cx="241401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025896" y="4343400"/>
            <a:ext cx="259689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6117336" y="4453128"/>
            <a:ext cx="241401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640×640</a:t>
            </a:r>
            <a:endParaRPr lang="en-US" sz="2600" dirty="0"/>
          </a:p>
        </p:txBody>
      </p:sp>
      <p:sp>
        <p:nvSpPr>
          <p:cNvPr id="30" name="Text 27"/>
          <p:cNvSpPr/>
          <p:nvPr/>
        </p:nvSpPr>
        <p:spPr>
          <a:xfrm>
            <a:off x="6117336" y="5193792"/>
            <a:ext cx="241401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Resolution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8787384" y="4343400"/>
            <a:ext cx="259689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8878824" y="4453128"/>
            <a:ext cx="241401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8.1</a:t>
            </a:r>
            <a:endParaRPr lang="en-US" sz="2600" dirty="0"/>
          </a:p>
        </p:txBody>
      </p:sp>
      <p:sp>
        <p:nvSpPr>
          <p:cNvPr id="33" name="Text 30"/>
          <p:cNvSpPr/>
          <p:nvPr/>
        </p:nvSpPr>
        <p:spPr>
          <a:xfrm>
            <a:off x="8878824" y="5193792"/>
            <a:ext cx="241401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GFLOPs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MCT-453L  ·  MACHINE VISION  ·  VEHICLE DETECTION &amp; CLASSIFICATION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112315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Configuration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48695" y="457200"/>
            <a:ext cx="658368" cy="65836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5" name="Image 0" descr="/home/claude/vehicle_ppt/icons/sli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283" y="542788"/>
            <a:ext cx="487192" cy="4871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89888"/>
            <a:ext cx="11185855" cy="0"/>
          </a:xfrm>
          <a:prstGeom prst="line">
            <a:avLst/>
          </a:prstGeom>
          <a:noFill/>
          <a:ln w="12700">
            <a:solidFill>
              <a:srgbClr val="E0E6EC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74066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331720"/>
                <a:gridCol w="23317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 (auto)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CosineAnnealingLR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(linear warmup)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Size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 × 224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 × 640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Decay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5e-4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Function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CrossEntropyLoss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 + Cls + DFL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229600" y="1737360"/>
            <a:ext cx="3456432" cy="40690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9" name="Text 5"/>
          <p:cNvSpPr/>
          <p:nvPr/>
        </p:nvSpPr>
        <p:spPr>
          <a:xfrm>
            <a:off x="8503920" y="1965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Time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503920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
</a:t>
            </a:r>
            <a:endParaRPr lang="en-US" sz="125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42.4 minutes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8503920" y="32918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
</a:t>
            </a:r>
            <a:endParaRPr lang="en-US" sz="125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21.6 minutes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503920" y="4343400"/>
            <a:ext cx="2926080" cy="0"/>
          </a:xfrm>
          <a:prstGeom prst="line">
            <a:avLst/>
          </a:prstGeom>
          <a:noFill/>
          <a:ln w="12700">
            <a:solidFill>
              <a:srgbClr val="2A4A7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503920" y="452628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AF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trained on a Tesla T4 GPU via Google Colab, with early stopping (patience = 5) applied to YOLOv8n.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MCT-453L  ·  MACHINE VISION  ·  VEHICLE DETECTION &amp; CLASSIFICATION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112315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RESULTS &amp;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EfficientNet-B0 — Classification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48695" y="457200"/>
            <a:ext cx="658368" cy="65836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5" name="Image 0" descr="/home/claude/vehicle_ppt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283" y="542788"/>
            <a:ext cx="487192" cy="4871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89888"/>
            <a:ext cx="11185855" cy="0"/>
          </a:xfrm>
          <a:prstGeom prst="line">
            <a:avLst/>
          </a:prstGeom>
          <a:noFill/>
          <a:ln w="12700">
            <a:solidFill>
              <a:srgbClr val="E0E6EC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70408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234440"/>
                <a:gridCol w="1234440"/>
                <a:gridCol w="1234440"/>
                <a:gridCol w="12344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microbus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motorbike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pickup-van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(weighted)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909560" y="1737360"/>
            <a:ext cx="377647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001000" y="1847088"/>
            <a:ext cx="3593592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78.0%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001000" y="2446020"/>
            <a:ext cx="35935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(9,245 crops)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909560" y="3017520"/>
            <a:ext cx="1828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8001000" y="3127248"/>
            <a:ext cx="16459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0.871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8001000" y="3896258"/>
            <a:ext cx="164592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 — Motorbike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9857232" y="3017520"/>
            <a:ext cx="1828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9948672" y="3127248"/>
            <a:ext cx="16459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0.407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9948672" y="3896258"/>
            <a:ext cx="164592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F1 — Microbus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7909560" y="4617720"/>
            <a:ext cx="37764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 fell steadily from 1.11 to 0.71 over 12 epochs; validation loss converged at 0.61, with no sign of overfitting.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MCT-453L  ·  MACHINE VISION  ·  VEHICLE DETECTION &amp; CLASSIFICATION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112315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RESULTS &amp;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EfficientNet-B0 — Training Curves &amp; Confusion Matrix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48695" y="457200"/>
            <a:ext cx="658368" cy="65836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5" name="Image 0" descr="/home/claude/vehicle_ppt/icons/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283" y="542788"/>
            <a:ext cx="487192" cy="4871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89888"/>
            <a:ext cx="11185855" cy="0"/>
          </a:xfrm>
          <a:prstGeom prst="line">
            <a:avLst/>
          </a:prstGeom>
          <a:noFill/>
          <a:ln w="12700">
            <a:solidFill>
              <a:srgbClr val="E0E6EC"/>
            </a:solidFill>
            <a:prstDash val="solid"/>
          </a:ln>
        </p:spPr>
      </p:sp>
      <p:pic>
        <p:nvPicPr>
          <p:cNvPr id="7" name="Image 1" descr="/home/claude/vehicle_ppt/images/img-039-0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76272"/>
            <a:ext cx="4160520" cy="332841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29768" y="2103120"/>
            <a:ext cx="201168" cy="0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29768" y="2103120"/>
            <a:ext cx="0" cy="201168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35424" y="2103120"/>
            <a:ext cx="201168" cy="0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736592" y="2103120"/>
            <a:ext cx="0" cy="201168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29768" y="5376672"/>
            <a:ext cx="0" cy="201168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29768" y="5577840"/>
            <a:ext cx="201168" cy="0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736592" y="5376672"/>
            <a:ext cx="0" cy="201168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35424" y="5577840"/>
            <a:ext cx="201168" cy="0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02920" y="557784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100" dirty="0"/>
          </a:p>
        </p:txBody>
      </p:sp>
      <p:pic>
        <p:nvPicPr>
          <p:cNvPr id="17" name="Image 2" descr="/home/claude/vehicle_ppt/images/img-039-00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895" y="1783080"/>
            <a:ext cx="7040880" cy="2516007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574743" y="1709928"/>
            <a:ext cx="201168" cy="0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574743" y="1709928"/>
            <a:ext cx="0" cy="201168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1560759" y="1709928"/>
            <a:ext cx="201168" cy="0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1761927" y="1709928"/>
            <a:ext cx="0" cy="201168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574743" y="4171071"/>
            <a:ext cx="0" cy="201168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574743" y="4372239"/>
            <a:ext cx="201168" cy="0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11761927" y="4171071"/>
            <a:ext cx="0" cy="201168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1560759" y="4372239"/>
            <a:ext cx="201168" cy="0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647895" y="4372239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Validation Loss &amp; Accuracy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4647895" y="4802007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is most frequently confused with motorbike (203 instances) and bus (138 instances) — visually adjacent classes.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Microbus shows substantial leakage into car (322 instances), explaining its weak recall.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MCT-453L  ·  MACHINE VISION  ·  VEHICLE DETECTION &amp; CLASSIFICATION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112315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RESULTS &amp;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YOLOv8n — Object Detection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48695" y="457200"/>
            <a:ext cx="658368" cy="65836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5" name="Image 0" descr="/home/claude/vehicle_ppt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283" y="542788"/>
            <a:ext cx="487192" cy="4871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89888"/>
            <a:ext cx="11185855" cy="0"/>
          </a:xfrm>
          <a:prstGeom prst="line">
            <a:avLst/>
          </a:prstGeom>
          <a:noFill/>
          <a:ln w="12700">
            <a:solidFill>
              <a:srgbClr val="E0E6EC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6400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AP@50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microbus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motorbike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pickup-van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269480" y="1737360"/>
            <a:ext cx="441655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360920" y="1847088"/>
            <a:ext cx="4233672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0.727 mAP@50  ·  0.416 mAP@50-95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7360920" y="2446020"/>
            <a:ext cx="423367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Detection Performance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269480" y="3017520"/>
            <a:ext cx="21214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360920" y="3127248"/>
            <a:ext cx="19385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0.865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7360920" y="3811219"/>
            <a:ext cx="193852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AP@50 — Bus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9564624" y="3017520"/>
            <a:ext cx="21214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9656064" y="3127248"/>
            <a:ext cx="19385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0.633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9656064" y="3811219"/>
            <a:ext cx="193852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AP@50 — Motorbike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7269480" y="4480560"/>
            <a:ext cx="44165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test-set Precision: 0.69  ·  Recall: 0.68. Bus benefits from its large, distinct bounding box; motorbike suffers from small size and frequent occlusion in dense traffic.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MCT-453L  ·  MACHINE VISION  ·  VEHICLE DETECTION &amp; CLASSIFICATION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112315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RESULTS &amp;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YOLOv8n — Confusion Matrix &amp; Precision-Recall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48695" y="457200"/>
            <a:ext cx="658368" cy="65836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5" name="Image 0" descr="/home/claude/vehicle_ppt/icons/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283" y="542788"/>
            <a:ext cx="487192" cy="4871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89888"/>
            <a:ext cx="11185855" cy="0"/>
          </a:xfrm>
          <a:prstGeom prst="line">
            <a:avLst/>
          </a:prstGeom>
          <a:noFill/>
          <a:ln w="12700">
            <a:solidFill>
              <a:srgbClr val="E0E6EC"/>
            </a:solidFill>
            <a:prstDash val="solid"/>
          </a:ln>
        </p:spPr>
      </p:sp>
      <p:pic>
        <p:nvPicPr>
          <p:cNvPr id="7" name="Image 1" descr="/home/claude/vehicle_ppt/images/img-043-00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19791"/>
            <a:ext cx="5120640" cy="384137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29768" y="1846639"/>
            <a:ext cx="201168" cy="0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29768" y="1846639"/>
            <a:ext cx="0" cy="201168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495544" y="1846639"/>
            <a:ext cx="201168" cy="0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696712" y="1846639"/>
            <a:ext cx="0" cy="201168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29768" y="5633153"/>
            <a:ext cx="0" cy="201168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29768" y="5834321"/>
            <a:ext cx="201168" cy="0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696712" y="5633153"/>
            <a:ext cx="0" cy="201168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95544" y="5834321"/>
            <a:ext cx="201168" cy="0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02920" y="5816033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Confusion Matrix</a:t>
            </a:r>
            <a:endParaRPr lang="en-US" sz="1100" dirty="0"/>
          </a:p>
        </p:txBody>
      </p:sp>
      <p:pic>
        <p:nvPicPr>
          <p:cNvPr id="17" name="Image 2" descr="/home/claude/vehicle_ppt/images/img-046-0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815" y="2042790"/>
            <a:ext cx="5394960" cy="359538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220663" y="1969638"/>
            <a:ext cx="201168" cy="0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220663" y="1969638"/>
            <a:ext cx="0" cy="201168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1560759" y="1969638"/>
            <a:ext cx="201168" cy="0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1761927" y="1969638"/>
            <a:ext cx="0" cy="201168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220663" y="5510154"/>
            <a:ext cx="0" cy="201168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220663" y="5711322"/>
            <a:ext cx="201168" cy="0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11761927" y="5510154"/>
            <a:ext cx="0" cy="201168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1560759" y="5711322"/>
            <a:ext cx="201168" cy="0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293815" y="5693034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Precision-Recall Curve (mAP@50 = 0.727)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MCT-453L  ·  MACHINE VISION  ·  VEHICLE DETECTION &amp; CLASSIFICATION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112315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RESULTS &amp;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48695" y="457200"/>
            <a:ext cx="658368" cy="65836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5" name="Image 0" descr="/home/claude/vehicle_ppt/icons/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283" y="542788"/>
            <a:ext cx="487192" cy="4871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89888"/>
            <a:ext cx="11185855" cy="0"/>
          </a:xfrm>
          <a:prstGeom prst="line">
            <a:avLst/>
          </a:prstGeom>
          <a:noFill/>
          <a:ln w="12700">
            <a:solidFill>
              <a:srgbClr val="E0E6EC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60350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965960"/>
                <a:gridCol w="19659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Detection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/ mAP@50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36.8 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36.6 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Memory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~84 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~170 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 × 224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 × 640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Bounding Boxes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Multi-vehicle / image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crop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scene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Image 1" descr="/home/claude/vehicle_ppt/images/img-040-0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135" y="1964937"/>
            <a:ext cx="5120640" cy="3659646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494983" y="1891785"/>
            <a:ext cx="201168" cy="0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6494983" y="1891785"/>
            <a:ext cx="0" cy="201168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11560759" y="1891785"/>
            <a:ext cx="201168" cy="0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11761927" y="1891785"/>
            <a:ext cx="0" cy="201168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494983" y="5496567"/>
            <a:ext cx="0" cy="201168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6494983" y="5697735"/>
            <a:ext cx="201168" cy="0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11761927" y="5496567"/>
            <a:ext cx="0" cy="201168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560759" y="5697735"/>
            <a:ext cx="201168" cy="0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02920" y="5486400"/>
            <a:ext cx="6035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 leads on raw classification accuracy, but the comparison isn't strictly equivalent — it classifies pre-cropped patches, while YOLOv8 detects and classifies in full scenes, making it the more practically capable model for real-world traffic monitoring.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MCT-453L  ·  MACHINE VISION  ·  VEHICLE DETECTION &amp; CLASSIFICATION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112315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4-6 · CRITICAL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Analysis &amp; Dataset Bias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48695" y="457200"/>
            <a:ext cx="658368" cy="65836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5" name="Image 0" descr="/home/claude/vehicle_ppt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283" y="542788"/>
            <a:ext cx="487192" cy="4871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89888"/>
            <a:ext cx="11185855" cy="0"/>
          </a:xfrm>
          <a:prstGeom prst="line">
            <a:avLst/>
          </a:prstGeom>
          <a:noFill/>
          <a:ln w="12700">
            <a:solidFill>
              <a:srgbClr val="E0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691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Failure Patterns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2920" y="214884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" y="2112264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Microbus misclassified as car or bus — visually intermediate vehicle, recall as low as 0.277 in EfficientNet.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306324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05840" y="3026664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Pickup-van confused with truck or car depending on viewing angle and cropping.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397764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05840" y="3941064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Motorbike missed by YOLOv8 in dense clusters — small bounding boxes, frequent overlap.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920" y="489204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05840" y="4855464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underperforms in EfficientNet (F1: 0.613) due to low training sample count (229 instances).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63640" y="1691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Bias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263640" y="2148840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2" name="Text 19"/>
          <p:cNvSpPr/>
          <p:nvPr/>
        </p:nvSpPr>
        <p:spPr>
          <a:xfrm>
            <a:off x="626364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766560" y="2112264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imbalance: car has 18.8× more test instances than truck, inflating overall metrics while masking minority-class failures.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263640" y="3063240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2"/>
          <p:cNvSpPr/>
          <p:nvPr/>
        </p:nvSpPr>
        <p:spPr>
          <a:xfrm>
            <a:off x="626364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766560" y="3026664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bias: dataset reflects a specific regional traffic context — may not generalize elsewhere.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263640" y="3977640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8" name="Text 25"/>
          <p:cNvSpPr/>
          <p:nvPr/>
        </p:nvSpPr>
        <p:spPr>
          <a:xfrm>
            <a:off x="626364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766560" y="3941064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Viewpoint bias: images are predominantly fixed overhead/roadside; dashcam or drone footage would likely degrade performance.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263640" y="4892040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1" name="Text 28"/>
          <p:cNvSpPr/>
          <p:nvPr/>
        </p:nvSpPr>
        <p:spPr>
          <a:xfrm>
            <a:off x="626364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766560" y="4855464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bias: EfficientNet trained on tight crops degrades with background clutter or partial occlusion.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MCT-453L  ·  MACHINE VISION  ·  VEHICLE DETECTION &amp; CLASSIFICATION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12315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TRAINING OPTIMIZATION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Optimizer, Scheduler &amp; Dropout Experiments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48695" y="457200"/>
            <a:ext cx="658368" cy="65836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5" name="Image 0" descr="/home/claude/vehicle_ppt/icons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283" y="542788"/>
            <a:ext cx="487192" cy="4871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89888"/>
            <a:ext cx="11185855" cy="0"/>
          </a:xfrm>
          <a:prstGeom prst="line">
            <a:avLst/>
          </a:prstGeom>
          <a:noFill/>
          <a:ln w="12700">
            <a:solidFill>
              <a:srgbClr val="E0E6EC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658368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280160"/>
                <a:gridCol w="118872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Val Acc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 Gap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(min)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— AdamW + Cosine + drop 0.3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80.94%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 + StepLR + drop 0.3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81.92%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-7.93%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 + Cosine + drop 0.3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80.72%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-7.26%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 + Cosine + drop 0.5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80.72%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-9.74%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4251960"/>
            <a:ext cx="6263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+ StepLR achieved the highest validation accuracy (81.92%), marginally outperforming the AdamW baseline.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overfitting gaps indicate validation accuracy exceeded training accuracy — the frozen pretrained backbone generalizes well even with limited fine-tuning.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+ dropout 0.5 showed the largest negative gap, confirming higher dropout reduces overfitting at a small accuracy cost.</a:t>
            </a:r>
            <a:endParaRPr lang="en-US" sz="1150" dirty="0"/>
          </a:p>
        </p:txBody>
      </p:sp>
      <p:pic>
        <p:nvPicPr>
          <p:cNvPr id="9" name="Image 1" descr="/home/claude/vehicle_ppt/images/img-041-0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6775" y="2246095"/>
            <a:ext cx="4572000" cy="314305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043623" y="2172943"/>
            <a:ext cx="201168" cy="0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7043623" y="2172943"/>
            <a:ext cx="0" cy="201168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11560759" y="2172943"/>
            <a:ext cx="201168" cy="0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1761927" y="2172943"/>
            <a:ext cx="0" cy="201168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7043623" y="5261129"/>
            <a:ext cx="0" cy="201168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043623" y="5462297"/>
            <a:ext cx="201168" cy="0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761927" y="5261129"/>
            <a:ext cx="0" cy="201168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1560759" y="5462297"/>
            <a:ext cx="201168" cy="0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MCT-453L  ·  MACHINE VISION  ·  VEHICLE DETECTION &amp; CLASSIFICATION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112315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Computational Performance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48695" y="457200"/>
            <a:ext cx="658368" cy="65836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5" name="Image 0" descr="/home/claude/vehicle_ppt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283" y="542788"/>
            <a:ext cx="487192" cy="4871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89888"/>
            <a:ext cx="11185855" cy="0"/>
          </a:xfrm>
          <a:prstGeom prst="line">
            <a:avLst/>
          </a:prstGeom>
          <a:noFill/>
          <a:ln w="12700">
            <a:solidFill>
              <a:srgbClr val="E0E6EC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53949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645920"/>
                <a:gridCol w="164592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Latency (ms)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298.8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P95 Latency (ms)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390.7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 (FPS)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Usage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 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 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443484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CPU-mode benchmark (100 images, Phase 5). GPU acceleration provides roughly 4–8× speedup over CPU-only inference for both models.</a:t>
            </a:r>
            <a:endParaRPr lang="en-US" sz="1150" dirty="0"/>
          </a:p>
        </p:txBody>
      </p:sp>
      <p:pic>
        <p:nvPicPr>
          <p:cNvPr id="9" name="Image 1" descr="/home/claude/vehicle_ppt/images/img-041-00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286" y="1783080"/>
            <a:ext cx="5412489" cy="169164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203134" y="1709928"/>
            <a:ext cx="201168" cy="0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6203134" y="1709928"/>
            <a:ext cx="0" cy="201168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11560759" y="1709928"/>
            <a:ext cx="201168" cy="0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1761927" y="1709928"/>
            <a:ext cx="0" cy="201168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6203134" y="3346704"/>
            <a:ext cx="0" cy="201168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203134" y="3547872"/>
            <a:ext cx="201168" cy="0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761927" y="3346704"/>
            <a:ext cx="0" cy="201168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1560759" y="3547872"/>
            <a:ext cx="201168" cy="0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276286" y="3794760"/>
            <a:ext cx="2614805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6367726" y="3904488"/>
            <a:ext cx="2431925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~36 ms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6367726" y="4645152"/>
            <a:ext cx="2431925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Inference (both models)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9073970" y="3794760"/>
            <a:ext cx="2614805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9165410" y="3904488"/>
            <a:ext cx="2431925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4-8×</a:t>
            </a:r>
            <a:endParaRPr lang="en-US" sz="2600" dirty="0"/>
          </a:p>
        </p:txBody>
      </p:sp>
      <p:sp>
        <p:nvSpPr>
          <p:cNvPr id="23" name="Text 18"/>
          <p:cNvSpPr/>
          <p:nvPr/>
        </p:nvSpPr>
        <p:spPr>
          <a:xfrm>
            <a:off x="9165410" y="4645152"/>
            <a:ext cx="2431925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vs CPU Speedup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MCT-453L  ·  MACHINE VISION  ·  VEHICLE DETECTION &amp; CLASSIFICATION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112315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Deployment — Gradio Interface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48695" y="457200"/>
            <a:ext cx="658368" cy="65836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5" name="Image 0" descr="/home/claude/vehicle_ppt/icons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283" y="542788"/>
            <a:ext cx="487192" cy="4871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89888"/>
            <a:ext cx="11185855" cy="0"/>
          </a:xfrm>
          <a:prstGeom prst="line">
            <a:avLst/>
          </a:prstGeom>
          <a:noFill/>
          <a:ln w="12700">
            <a:solidFill>
              <a:srgbClr val="E0E6EC"/>
            </a:solidFill>
            <a:prstDash val="solid"/>
          </a:ln>
        </p:spPr>
      </p:sp>
      <p:pic>
        <p:nvPicPr>
          <p:cNvPr id="7" name="Image 1" descr="/home/claude/vehicle_ppt/images/img-047-01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24817"/>
            <a:ext cx="5120640" cy="323132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29768" y="2151665"/>
            <a:ext cx="201168" cy="0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29768" y="2151665"/>
            <a:ext cx="0" cy="201168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495544" y="2151665"/>
            <a:ext cx="201168" cy="0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696712" y="2151665"/>
            <a:ext cx="0" cy="201168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29768" y="5328127"/>
            <a:ext cx="0" cy="201168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29768" y="5529295"/>
            <a:ext cx="201168" cy="0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696712" y="5328127"/>
            <a:ext cx="0" cy="201168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95544" y="5529295"/>
            <a:ext cx="201168" cy="0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02920" y="5547583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dual-model inference on a single uploaded traffic image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263640" y="1691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263640" y="2103120"/>
            <a:ext cx="5394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Gradio interface, deployed on Google Colab via a public shareable link, accepts a single uploaded traffic image of any resolution.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run in parallel: YOLOv8 returns an annotated image with bounding boxes; EfficientNet returns top-1 class and confidence.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display per-model confidence scores and inference latency side by side, with no tunneling required.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MCT-453L  ·  MACHINE VISION  ·  VEHICLE DETECTION &amp; CLASSIFICATION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12315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ENGINEERING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Considerations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48695" y="457200"/>
            <a:ext cx="658368" cy="658368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5" name="Image 0" descr="/home/claude/vehicle_ppt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283" y="542788"/>
            <a:ext cx="487192" cy="4871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89888"/>
            <a:ext cx="11185855" cy="0"/>
          </a:xfrm>
          <a:prstGeom prst="line">
            <a:avLst/>
          </a:prstGeom>
          <a:noFill/>
          <a:ln w="12700">
            <a:solidFill>
              <a:srgbClr val="2A4A7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83080"/>
            <a:ext cx="2157984" cy="41148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8" name="Text 5"/>
          <p:cNvSpPr/>
          <p:nvPr/>
        </p:nvSpPr>
        <p:spPr>
          <a:xfrm>
            <a:off x="667512" y="20116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Surveillance Risk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67512" y="2697480"/>
            <a:ext cx="18288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could be misused for mass movement tracking; deployment requires clear data retention and access governance.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825496" y="1783080"/>
            <a:ext cx="2157984" cy="41148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11" name="Text 8"/>
          <p:cNvSpPr/>
          <p:nvPr/>
        </p:nvSpPr>
        <p:spPr>
          <a:xfrm>
            <a:off x="2990088" y="20116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2990088" y="2697480"/>
            <a:ext cx="18288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Misclassification of motorbikes is more common in lower-income commuting and could create inequitable enforcement outcomes.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148072" y="1783080"/>
            <a:ext cx="2157984" cy="41148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14" name="Text 11"/>
          <p:cNvSpPr/>
          <p:nvPr/>
        </p:nvSpPr>
        <p:spPr>
          <a:xfrm>
            <a:off x="5312664" y="20116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Accountability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312664" y="2697480"/>
            <a:ext cx="18288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decisions such as toll charging or violation ticketing must include human review given non-trivial error rates.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470648" y="1783080"/>
            <a:ext cx="2157984" cy="41148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17" name="Text 14"/>
          <p:cNvSpPr/>
          <p:nvPr/>
        </p:nvSpPr>
        <p:spPr>
          <a:xfrm>
            <a:off x="7635240" y="20116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Privacy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7635240" y="2697480"/>
            <a:ext cx="18288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images may contain license plates and faces; anonymization is required before training or deployment.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793224" y="1783080"/>
            <a:ext cx="2157984" cy="41148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20" name="Text 17"/>
          <p:cNvSpPr/>
          <p:nvPr/>
        </p:nvSpPr>
        <p:spPr>
          <a:xfrm>
            <a:off x="9957816" y="20116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9957816" y="2697480"/>
            <a:ext cx="18288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parties should be informed whenever automated vision systems are in use.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MCT-453L  ·  MACHINE VISION  ·  VEHICLE DETECTION &amp; CLASSIFICATION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2315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&amp; 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48695" y="457200"/>
            <a:ext cx="658368" cy="65836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5" name="Image 0" descr="/home/claude/vehicle_ppt/icons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283" y="542788"/>
            <a:ext cx="487192" cy="4871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89888"/>
            <a:ext cx="11185855" cy="0"/>
          </a:xfrm>
          <a:prstGeom prst="line">
            <a:avLst/>
          </a:prstGeom>
          <a:noFill/>
          <a:ln w="12700">
            <a:solidFill>
              <a:srgbClr val="E0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691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210312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is highly effective even with a fully frozen backbone (7,686 trainable parameters).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with StepLR slightly outperformed adaptive optimizers on validation accuracy.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is the primary driver of per-class performance degradation across both models.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inference is insufficient for real-time deployment without further optimization.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5212080"/>
            <a:ext cx="2615184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4360" y="5321808"/>
            <a:ext cx="2432304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81.2%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94360" y="5807354"/>
            <a:ext cx="2432304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EfficientNet-B0 Accuracy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82696" y="5212080"/>
            <a:ext cx="2615184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374136" y="5321808"/>
            <a:ext cx="2432304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73.0%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3374136" y="5807354"/>
            <a:ext cx="2432304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YOLOv8n mAP@50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263640" y="1691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263640" y="210312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class imbalance via weighted loss, oversampling (SMOTE), or balanced data collection.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video inference with multi-object tracking (DeepSORT, ByteTrack) for temporal context.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INT8 quantization and pruning to enable real-time CPU or edge deployment.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larger YOLOv8 variants (m / l) and collect night, rain, and high-density traffic data.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263640" y="5212080"/>
            <a:ext cx="168249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355080" y="5321808"/>
            <a:ext cx="1499616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6355080" y="5807354"/>
            <a:ext cx="1499616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Phases Delivered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110728" y="5212080"/>
            <a:ext cx="168249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202168" y="5321808"/>
            <a:ext cx="1499616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8202168" y="5807354"/>
            <a:ext cx="1499616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 Benchmarked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9957816" y="5212080"/>
            <a:ext cx="168249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10049256" y="5321808"/>
            <a:ext cx="1499616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10049256" y="5807354"/>
            <a:ext cx="1499616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Gradio Demo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MCT-453L  ·  MACHINE VISION  ·  VEHICLE DETECTION &amp; CLASSIFICATION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12315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Learning-Based Vehicle Detection and Classification System</dc:title>
  <dc:subject>PptxGenJS Presentation</dc:subject>
  <dc:creator>Group 6 — Mechatronics &amp; Control Engineering, UET Lahore</dc:creator>
  <cp:lastModifiedBy>Group 6 — Mechatronics &amp; Control Engineering, UET Lahore</cp:lastModifiedBy>
  <cp:revision>1</cp:revision>
  <dcterms:created xsi:type="dcterms:W3CDTF">2026-06-30T02:43:27Z</dcterms:created>
  <dcterms:modified xsi:type="dcterms:W3CDTF">2026-06-30T02:43:27Z</dcterms:modified>
</cp:coreProperties>
</file>